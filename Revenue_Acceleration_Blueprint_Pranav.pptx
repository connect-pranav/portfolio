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strument Sans Medium" panose="020B0604020202020204" charset="0"/>
      <p:regular r:id="rId11"/>
    </p:embeddedFont>
    <p:embeddedFont>
      <p:font typeface="Open Sans" panose="020B0606030504020204" pitchFamily="3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35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936" y="283488"/>
            <a:ext cx="3458528" cy="22682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10878" y="4497586"/>
            <a:ext cx="120085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EC Vertical – Revenue Acceleration Blueprint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3987998" y="5297091"/>
            <a:ext cx="66544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FDB91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| Channel | AI | Governance</a:t>
            </a:r>
            <a:endParaRPr lang="en-US" sz="3550" dirty="0"/>
          </a:p>
        </p:txBody>
      </p:sp>
      <p:sp>
        <p:nvSpPr>
          <p:cNvPr id="6" name="Text 2"/>
          <p:cNvSpPr/>
          <p:nvPr/>
        </p:nvSpPr>
        <p:spPr>
          <a:xfrm>
            <a:off x="793790" y="62042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Pranav Kumar, Program Manager (Proposed)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2AE851-7956-0290-B38C-236D0C56E108}"/>
              </a:ext>
            </a:extLst>
          </p:cNvPr>
          <p:cNvSpPr/>
          <p:nvPr/>
        </p:nvSpPr>
        <p:spPr>
          <a:xfrm>
            <a:off x="12462933" y="7755467"/>
            <a:ext cx="2088445" cy="362903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53364" y="971193"/>
            <a:ext cx="103235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Building a Predictable Revenue Engine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46981"/>
            <a:ext cx="13042821" cy="35957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38055"/>
            <a:ext cx="4196358" cy="2069544"/>
          </a:xfrm>
          <a:prstGeom prst="roundRect">
            <a:avLst>
              <a:gd name="adj" fmla="val 1644"/>
            </a:avLst>
          </a:prstGeom>
          <a:solidFill>
            <a:srgbClr val="3E3E3E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276486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B0B0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951917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3672126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Funnel Governance &amp; Leakage Control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216962" y="2538055"/>
            <a:ext cx="4196358" cy="2069544"/>
          </a:xfrm>
          <a:prstGeom prst="roundRect">
            <a:avLst>
              <a:gd name="adj" fmla="val 1644"/>
            </a:avLst>
          </a:prstGeom>
          <a:solidFill>
            <a:srgbClr val="3E3E3E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76486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B0B0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2951917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672126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Churn Reduction Through ROI Visibility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9640133" y="2538055"/>
            <a:ext cx="4196358" cy="2069544"/>
          </a:xfrm>
          <a:prstGeom prst="roundRect">
            <a:avLst>
              <a:gd name="adj" fmla="val 1644"/>
            </a:avLst>
          </a:prstGeom>
          <a:solidFill>
            <a:srgbClr val="3E3E3E"/>
          </a:solidFill>
          <a:ln/>
        </p:spPr>
      </p:sp>
      <p:sp>
        <p:nvSpPr>
          <p:cNvPr id="13" name="Shape 9"/>
          <p:cNvSpPr/>
          <p:nvPr/>
        </p:nvSpPr>
        <p:spPr>
          <a:xfrm>
            <a:off x="9866948" y="276486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B0B0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2951917"/>
            <a:ext cx="306110" cy="3061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66948" y="3672126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Channel-Based Cost Optimization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793790" y="4834414"/>
            <a:ext cx="13042702" cy="1715214"/>
          </a:xfrm>
          <a:prstGeom prst="roundRect">
            <a:avLst>
              <a:gd name="adj" fmla="val 1984"/>
            </a:avLst>
          </a:prstGeom>
          <a:solidFill>
            <a:srgbClr val="3E3E3E"/>
          </a:solidFill>
          <a:ln/>
        </p:spPr>
      </p:sp>
      <p:sp>
        <p:nvSpPr>
          <p:cNvPr id="17" name="Shape 12"/>
          <p:cNvSpPr/>
          <p:nvPr/>
        </p:nvSpPr>
        <p:spPr>
          <a:xfrm>
            <a:off x="1020604" y="506122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B0B0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7770" y="5248275"/>
            <a:ext cx="306110" cy="3061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20604" y="5968484"/>
            <a:ext cx="42344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AI-Driven Pipeline Management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93790" y="680477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highlight>
                  <a:srgbClr val="FDB913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Objective: Revenue Stability + Margin Improvement</a:t>
            </a:r>
            <a:endParaRPr lang="en-US" sz="2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FB6DDB-8566-57CC-65E4-BAF65D22E035}"/>
              </a:ext>
            </a:extLst>
          </p:cNvPr>
          <p:cNvSpPr/>
          <p:nvPr/>
        </p:nvSpPr>
        <p:spPr>
          <a:xfrm>
            <a:off x="12462933" y="7755467"/>
            <a:ext cx="2088445" cy="362903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2818" y="928687"/>
            <a:ext cx="7644646" cy="39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Architecture: Uncovering the Opportunity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2958703" y="1526756"/>
            <a:ext cx="8712994" cy="23336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703" y="1708190"/>
            <a:ext cx="631269" cy="7575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60219" y="1834396"/>
            <a:ext cx="1578412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60219" y="2101929"/>
            <a:ext cx="4403050" cy="157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12,000</a:t>
            </a: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leads generated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703" y="2465784"/>
            <a:ext cx="631269" cy="7575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60219" y="2591991"/>
            <a:ext cx="1578412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Contact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660219" y="2859524"/>
            <a:ext cx="4403050" cy="157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3,200</a:t>
            </a: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contacts made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703" y="3223379"/>
            <a:ext cx="631269" cy="7575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60219" y="3349585"/>
            <a:ext cx="1578412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Qualified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660219" y="3617119"/>
            <a:ext cx="4403050" cy="157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700</a:t>
            </a: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qualified opportunities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8703" y="3980974"/>
            <a:ext cx="631269" cy="7575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60219" y="4107180"/>
            <a:ext cx="1578412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660219" y="4374713"/>
            <a:ext cx="4403050" cy="157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180</a:t>
            </a: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conversions achieved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8703" y="4738568"/>
            <a:ext cx="631269" cy="75759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660219" y="4864775"/>
            <a:ext cx="1578412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660219" y="5132308"/>
            <a:ext cx="4403050" cy="157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Sustaining customer relationships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8703" y="5496163"/>
            <a:ext cx="631269" cy="75759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660219" y="5622369"/>
            <a:ext cx="1578412" cy="19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Upsell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3660219" y="5889903"/>
            <a:ext cx="4403050" cy="157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Expanding customer value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2958703" y="6332815"/>
            <a:ext cx="5104567" cy="62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horizontal flow illustrates the progression of customers through our revenue stages. Significant drops indicate </a:t>
            </a:r>
            <a:r>
              <a:rPr lang="en-US" sz="950" dirty="0">
                <a:solidFill>
                  <a:srgbClr val="ED1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leakage points</a:t>
            </a: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representing lost opportunities between each stage. Focusing on these areas is crucial for improving efficiency and maximizing revenue.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8378785" y="1699379"/>
            <a:ext cx="2001798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Opportunity Areas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8378785" y="2006322"/>
            <a:ext cx="3300413" cy="88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Lead-to-conversion inefficiency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activation ratio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segmentation by turnover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direct acquisition cost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Weak predictive visibility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2958703" y="7104221"/>
            <a:ext cx="8712994" cy="196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ED1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Insight: Revenue exists. Governance is fragmented.</a:t>
            </a:r>
            <a:endParaRPr 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960EB4-877A-0398-9548-37189591DD72}"/>
              </a:ext>
            </a:extLst>
          </p:cNvPr>
          <p:cNvSpPr/>
          <p:nvPr/>
        </p:nvSpPr>
        <p:spPr>
          <a:xfrm>
            <a:off x="12462933" y="7755467"/>
            <a:ext cx="2088445" cy="362903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30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Governance Framework: Weekly Tracking Dashboard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80870"/>
            <a:ext cx="13042821" cy="35957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3285292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FDB91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75%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900113" y="4317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Activation 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25278" y="328529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FDB91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INR.125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4317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ARPU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28529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FDB91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92%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7563326" y="4317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Renewal Ratio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8491" y="328529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FDB91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8%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894933" y="4317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Churn 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25278" y="5238393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FDB91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INR.50K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4212431" y="6270188"/>
            <a:ext cx="2873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per Manager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5238393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FDB91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30s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7563326" y="62701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SLA Response Time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687966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highlight>
                  <a:srgbClr val="FDB913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Impact: Revenue predictability + performance accountability</a:t>
            </a:r>
            <a:endParaRPr lang="en-US" sz="2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4B4309-B3B5-FC35-C10A-CC408001E3C4}"/>
              </a:ext>
            </a:extLst>
          </p:cNvPr>
          <p:cNvSpPr/>
          <p:nvPr/>
        </p:nvSpPr>
        <p:spPr>
          <a:xfrm>
            <a:off x="12462933" y="7755467"/>
            <a:ext cx="2088445" cy="362903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2123" y="688777"/>
            <a:ext cx="7325916" cy="385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Channel Expansion Model: Cost Reduction Engine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061692" y="1269548"/>
            <a:ext cx="8506897" cy="22979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692" y="1367790"/>
            <a:ext cx="8506897" cy="44169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81773" y="3334971"/>
            <a:ext cx="1049742" cy="4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TradeIndia EC Vertical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0008" y="2539135"/>
            <a:ext cx="213622" cy="2136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63036" y="2279323"/>
            <a:ext cx="1839149" cy="236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Channel Partners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3263036" y="2582699"/>
            <a:ext cx="1839149" cy="29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Authorized distributors and resellers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9527898" y="2279323"/>
            <a:ext cx="1839149" cy="236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Cluster Leads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527898" y="2582699"/>
            <a:ext cx="1839149" cy="29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coordinators for market clusters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2310" y="2085646"/>
            <a:ext cx="213622" cy="213623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85305" y="4369886"/>
            <a:ext cx="213623" cy="2136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63036" y="4244441"/>
            <a:ext cx="1839149" cy="236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Regional Network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3263036" y="4547817"/>
            <a:ext cx="1839149" cy="29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Area-level sales and support teams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9527898" y="4244441"/>
            <a:ext cx="1839149" cy="4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Performance Incentive Layer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9527898" y="4784009"/>
            <a:ext cx="1839149" cy="291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Rewards driving sales efficiency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22258" y="5066914"/>
            <a:ext cx="213622" cy="21362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061692" y="5860137"/>
            <a:ext cx="8506897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diagram illustrates our strategic approach to channel expansion, positioning the core business as a central hub for a network of interconnected partners. This model is designed for scalability and cost efficiency, ensuring seamless integration and leveraging partner strengths to drive growth.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3061692" y="6264950"/>
            <a:ext cx="1849279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components: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3061692" y="6596539"/>
            <a:ext cx="850689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Channel Partner Module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Cluster-based partner expansion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Commission-led performance framework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direct acquisition dependency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3061692" y="7350562"/>
            <a:ext cx="8506897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DB913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Impact: Lower CAC + Faster market penetration</a:t>
            </a:r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CBE7A8-95C0-A5FA-DF65-210FF2DB753A}"/>
              </a:ext>
            </a:extLst>
          </p:cNvPr>
          <p:cNvSpPr/>
          <p:nvPr/>
        </p:nvSpPr>
        <p:spPr>
          <a:xfrm>
            <a:off x="12462933" y="7755467"/>
            <a:ext cx="2088445" cy="362903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924" y="636508"/>
            <a:ext cx="13178552" cy="1296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Segmentation &amp; Team Structuring: Optimized for Conversion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5924" y="2415605"/>
            <a:ext cx="13178552" cy="33457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570" y="2875717"/>
            <a:ext cx="2090857" cy="571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48087" y="3044190"/>
            <a:ext cx="291584" cy="36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083" y="3499485"/>
            <a:ext cx="4181832" cy="571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48087" y="3603188"/>
            <a:ext cx="291584" cy="36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595" y="4123253"/>
            <a:ext cx="6272808" cy="571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48207" y="4226957"/>
            <a:ext cx="291584" cy="36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250" dirty="0"/>
          </a:p>
        </p:txBody>
      </p:sp>
      <p:sp>
        <p:nvSpPr>
          <p:cNvPr id="10" name="Shape 5"/>
          <p:cNvSpPr/>
          <p:nvPr/>
        </p:nvSpPr>
        <p:spPr>
          <a:xfrm>
            <a:off x="725924" y="4902637"/>
            <a:ext cx="414814" cy="414814"/>
          </a:xfrm>
          <a:prstGeom prst="roundRect">
            <a:avLst>
              <a:gd name="adj" fmla="val 7501"/>
            </a:avLst>
          </a:prstGeom>
          <a:solidFill>
            <a:srgbClr val="ED1C24"/>
          </a:solidFill>
          <a:ln/>
        </p:spPr>
      </p:sp>
      <p:sp>
        <p:nvSpPr>
          <p:cNvPr id="11" name="Text 6"/>
          <p:cNvSpPr/>
          <p:nvPr/>
        </p:nvSpPr>
        <p:spPr>
          <a:xfrm>
            <a:off x="803731" y="4947999"/>
            <a:ext cx="259199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2899886" y="4947999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Premium Accounts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725924" y="5628561"/>
            <a:ext cx="414814" cy="414814"/>
          </a:xfrm>
          <a:prstGeom prst="roundRect">
            <a:avLst>
              <a:gd name="adj" fmla="val 7501"/>
            </a:avLst>
          </a:prstGeom>
          <a:solidFill>
            <a:srgbClr val="FDB913"/>
          </a:solidFill>
          <a:ln/>
        </p:spPr>
      </p:sp>
      <p:sp>
        <p:nvSpPr>
          <p:cNvPr id="14" name="Text 9"/>
          <p:cNvSpPr/>
          <p:nvPr/>
        </p:nvSpPr>
        <p:spPr>
          <a:xfrm>
            <a:off x="803731" y="5673923"/>
            <a:ext cx="259199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2899886" y="5673923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Growth Accounts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725924" y="6354485"/>
            <a:ext cx="414814" cy="414814"/>
          </a:xfrm>
          <a:prstGeom prst="roundRect">
            <a:avLst>
              <a:gd name="adj" fmla="val 7501"/>
            </a:avLst>
          </a:prstGeom>
          <a:solidFill>
            <a:srgbClr val="333333"/>
          </a:solidFill>
          <a:ln/>
        </p:spPr>
      </p:sp>
      <p:sp>
        <p:nvSpPr>
          <p:cNvPr id="17" name="Text 12"/>
          <p:cNvSpPr/>
          <p:nvPr/>
        </p:nvSpPr>
        <p:spPr>
          <a:xfrm>
            <a:off x="803731" y="6399848"/>
            <a:ext cx="259199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2899886" y="6399848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Volume Accounts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7575828" y="2852023"/>
            <a:ext cx="3111341" cy="388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Team Alignment: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7575828" y="3430548"/>
            <a:ext cx="6336268" cy="108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Senior Managers → Premium portfolio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Hunters → Growth accounts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Scaled Ops → Volume segment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25924" y="7196018"/>
            <a:ext cx="13178552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000" dirty="0">
                <a:solidFill>
                  <a:srgbClr val="ED1C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Right Portfolio + Right Capability = Higher Conversion</a:t>
            </a:r>
            <a:endParaRPr lang="en-US" sz="2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6063DE-3A2D-9262-BC1B-87E4A75C4830}"/>
              </a:ext>
            </a:extLst>
          </p:cNvPr>
          <p:cNvSpPr/>
          <p:nvPr/>
        </p:nvSpPr>
        <p:spPr>
          <a:xfrm>
            <a:off x="12462933" y="7755467"/>
            <a:ext cx="2088445" cy="362903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3450" y="1110734"/>
            <a:ext cx="10863382" cy="598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AI-Driven Enablement &amp; 90-Day Execution Plan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07231" y="2128382"/>
            <a:ext cx="13215938" cy="31552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231" y="2503527"/>
            <a:ext cx="2872978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Framework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707231" y="3044547"/>
            <a:ext cx="6374368" cy="682109"/>
          </a:xfrm>
          <a:prstGeom prst="roundRect">
            <a:avLst>
              <a:gd name="adj" fmla="val 4212"/>
            </a:avLst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2432209" y="3236000"/>
            <a:ext cx="2924294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Lead Prioritization Scoring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07231" y="3888343"/>
            <a:ext cx="6374368" cy="682109"/>
          </a:xfrm>
          <a:prstGeom prst="roundRect">
            <a:avLst>
              <a:gd name="adj" fmla="val 4212"/>
            </a:avLst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2568178" y="4079796"/>
            <a:ext cx="2652355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Churn Prediction Model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07231" y="4732139"/>
            <a:ext cx="6374368" cy="682109"/>
          </a:xfrm>
          <a:prstGeom prst="roundRect">
            <a:avLst>
              <a:gd name="adj" fmla="val 4212"/>
            </a:avLst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2669143" y="4923592"/>
            <a:ext cx="2450425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Productivity Analytics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07231" y="5575935"/>
            <a:ext cx="6374368" cy="682109"/>
          </a:xfrm>
          <a:prstGeom prst="roundRect">
            <a:avLst>
              <a:gd name="adj" fmla="val 4212"/>
            </a:avLst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2093714" y="5767388"/>
            <a:ext cx="360128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Forecasting Dashboard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556421" y="2503527"/>
            <a:ext cx="3643789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90-Day Execution Timeline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700010" y="3044547"/>
            <a:ext cx="22860" cy="3357205"/>
          </a:xfrm>
          <a:prstGeom prst="roundRect">
            <a:avLst>
              <a:gd name="adj" fmla="val 125680"/>
            </a:avLst>
          </a:prstGeom>
          <a:solidFill>
            <a:srgbClr val="575757"/>
          </a:solidFill>
          <a:ln/>
        </p:spPr>
      </p:sp>
      <p:sp>
        <p:nvSpPr>
          <p:cNvPr id="15" name="Shape 13"/>
          <p:cNvSpPr/>
          <p:nvPr/>
        </p:nvSpPr>
        <p:spPr>
          <a:xfrm>
            <a:off x="7677150" y="3248501"/>
            <a:ext cx="383024" cy="22860"/>
          </a:xfrm>
          <a:prstGeom prst="roundRect">
            <a:avLst>
              <a:gd name="adj" fmla="val 125680"/>
            </a:avLst>
          </a:prstGeom>
          <a:solidFill>
            <a:srgbClr val="575757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8215" y="3188137"/>
            <a:ext cx="143589" cy="143589"/>
          </a:xfrm>
          <a:prstGeom prst="roundRect">
            <a:avLst>
              <a:gd name="adj" fmla="val 318409"/>
            </a:avLst>
          </a:prstGeom>
          <a:solidFill>
            <a:srgbClr val="F5F547"/>
          </a:solidFill>
          <a:ln/>
        </p:spPr>
      </p:sp>
      <p:sp>
        <p:nvSpPr>
          <p:cNvPr id="17" name="Text 15"/>
          <p:cNvSpPr/>
          <p:nvPr/>
        </p:nvSpPr>
        <p:spPr>
          <a:xfrm>
            <a:off x="8466177" y="3110270"/>
            <a:ext cx="239410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30 Days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466177" y="3571161"/>
            <a:ext cx="5464612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+ Funnel Mapping + Dashboard Baseline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77150" y="4381143"/>
            <a:ext cx="383024" cy="22860"/>
          </a:xfrm>
          <a:prstGeom prst="roundRect">
            <a:avLst>
              <a:gd name="adj" fmla="val 125680"/>
            </a:avLst>
          </a:prstGeom>
          <a:solidFill>
            <a:srgbClr val="575757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8215" y="4320778"/>
            <a:ext cx="143589" cy="143589"/>
          </a:xfrm>
          <a:prstGeom prst="roundRect">
            <a:avLst>
              <a:gd name="adj" fmla="val 318409"/>
            </a:avLst>
          </a:prstGeom>
          <a:solidFill>
            <a:srgbClr val="F5F547"/>
          </a:solidFill>
          <a:ln/>
        </p:spPr>
      </p:sp>
      <p:sp>
        <p:nvSpPr>
          <p:cNvPr id="21" name="Text 19"/>
          <p:cNvSpPr/>
          <p:nvPr/>
        </p:nvSpPr>
        <p:spPr>
          <a:xfrm>
            <a:off x="8466177" y="4242911"/>
            <a:ext cx="239410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60 Days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8466177" y="4703802"/>
            <a:ext cx="5464612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Channel Pilot + SLA Rollout + Portfolio Restructuring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77150" y="5513784"/>
            <a:ext cx="383024" cy="22860"/>
          </a:xfrm>
          <a:prstGeom prst="roundRect">
            <a:avLst>
              <a:gd name="adj" fmla="val 125680"/>
            </a:avLst>
          </a:prstGeom>
          <a:solidFill>
            <a:srgbClr val="575757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8215" y="5453420"/>
            <a:ext cx="143589" cy="143589"/>
          </a:xfrm>
          <a:prstGeom prst="roundRect">
            <a:avLst>
              <a:gd name="adj" fmla="val 318409"/>
            </a:avLst>
          </a:prstGeom>
          <a:solidFill>
            <a:srgbClr val="F5F547"/>
          </a:solidFill>
          <a:ln/>
        </p:spPr>
      </p:sp>
      <p:sp>
        <p:nvSpPr>
          <p:cNvPr id="25" name="Text 23"/>
          <p:cNvSpPr/>
          <p:nvPr/>
        </p:nvSpPr>
        <p:spPr>
          <a:xfrm>
            <a:off x="8466177" y="5375553"/>
            <a:ext cx="2394109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90 Days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8466177" y="5836444"/>
            <a:ext cx="5464612" cy="56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Rollout + Forecast System + Governance Institutionalization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7231" y="6765608"/>
            <a:ext cx="13215938" cy="35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000000"/>
                </a:solidFill>
                <a:highlight>
                  <a:srgbClr val="FDB913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Impact: Controlled scale-up</a:t>
            </a:r>
            <a:endParaRPr lang="en-US" sz="18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D08D20-F44A-058E-F9D3-A08B5A638C86}"/>
              </a:ext>
            </a:extLst>
          </p:cNvPr>
          <p:cNvSpPr/>
          <p:nvPr/>
        </p:nvSpPr>
        <p:spPr>
          <a:xfrm>
            <a:off x="12462933" y="7755467"/>
            <a:ext cx="2088445" cy="362903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43306" y="1203365"/>
            <a:ext cx="554378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Expected Business Impact &amp; Closing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913340" y="1809144"/>
            <a:ext cx="8803719" cy="23455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913340" y="1913215"/>
            <a:ext cx="8803719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13340" y="2313027"/>
            <a:ext cx="8803719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Projected Outcomes: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13340" y="2593181"/>
            <a:ext cx="2147173" cy="653891"/>
          </a:xfrm>
          <a:prstGeom prst="roundRect">
            <a:avLst>
              <a:gd name="adj" fmla="val 2927"/>
            </a:avLst>
          </a:prstGeom>
          <a:solidFill>
            <a:srgbClr val="FDB913"/>
          </a:solidFill>
          <a:ln/>
        </p:spPr>
      </p:sp>
      <p:sp>
        <p:nvSpPr>
          <p:cNvPr id="7" name="Text 5"/>
          <p:cNvSpPr/>
          <p:nvPr/>
        </p:nvSpPr>
        <p:spPr>
          <a:xfrm>
            <a:off x="3155871" y="2720697"/>
            <a:ext cx="1661993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+8–15% Revenue Uplift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32189" y="2593181"/>
            <a:ext cx="2147173" cy="653891"/>
          </a:xfrm>
          <a:prstGeom prst="roundRect">
            <a:avLst>
              <a:gd name="adj" fmla="val 2927"/>
            </a:avLst>
          </a:prstGeom>
          <a:solidFill>
            <a:srgbClr val="FDB913"/>
          </a:solidFill>
          <a:ln/>
        </p:spPr>
      </p:sp>
      <p:sp>
        <p:nvSpPr>
          <p:cNvPr id="9" name="Text 7"/>
          <p:cNvSpPr/>
          <p:nvPr/>
        </p:nvSpPr>
        <p:spPr>
          <a:xfrm>
            <a:off x="5350193" y="2720697"/>
            <a:ext cx="1711047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3–5% Churn Reduction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51038" y="2593181"/>
            <a:ext cx="2147173" cy="653891"/>
          </a:xfrm>
          <a:prstGeom prst="roundRect">
            <a:avLst>
              <a:gd name="adj" fmla="val 2927"/>
            </a:avLst>
          </a:prstGeom>
          <a:solidFill>
            <a:srgbClr val="FDB913"/>
          </a:solidFill>
          <a:ln/>
        </p:spPr>
      </p:sp>
      <p:sp>
        <p:nvSpPr>
          <p:cNvPr id="11" name="Text 9"/>
          <p:cNvSpPr/>
          <p:nvPr/>
        </p:nvSpPr>
        <p:spPr>
          <a:xfrm>
            <a:off x="7478554" y="2720697"/>
            <a:ext cx="1892141" cy="398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10% Productivity Improvement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569887" y="2593181"/>
            <a:ext cx="2147173" cy="653891"/>
          </a:xfrm>
          <a:prstGeom prst="roundRect">
            <a:avLst>
              <a:gd name="adj" fmla="val 2927"/>
            </a:avLst>
          </a:prstGeom>
          <a:solidFill>
            <a:srgbClr val="FDB913"/>
          </a:solidFill>
          <a:ln/>
        </p:spPr>
      </p:sp>
      <p:sp>
        <p:nvSpPr>
          <p:cNvPr id="13" name="Text 11"/>
          <p:cNvSpPr/>
          <p:nvPr/>
        </p:nvSpPr>
        <p:spPr>
          <a:xfrm>
            <a:off x="9767173" y="2720697"/>
            <a:ext cx="175260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Lower Acquisition Cost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913340" y="3318748"/>
            <a:ext cx="8803719" cy="454462"/>
          </a:xfrm>
          <a:prstGeom prst="roundRect">
            <a:avLst>
              <a:gd name="adj" fmla="val 4211"/>
            </a:avLst>
          </a:prstGeom>
          <a:solidFill>
            <a:srgbClr val="FDB913"/>
          </a:solidFill>
          <a:ln/>
        </p:spPr>
      </p:sp>
      <p:sp>
        <p:nvSpPr>
          <p:cNvPr id="15" name="Text 13"/>
          <p:cNvSpPr/>
          <p:nvPr/>
        </p:nvSpPr>
        <p:spPr>
          <a:xfrm>
            <a:off x="6279594" y="3446264"/>
            <a:ext cx="207109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D1C24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Predictable Revenue Model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13340" y="3853934"/>
            <a:ext cx="8803719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17670" y="4440198"/>
            <a:ext cx="619506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Building a Scalable &amp; Intelligent EC Revenue Engine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913340" y="4866680"/>
            <a:ext cx="8803719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13340" y="5426035"/>
            <a:ext cx="8803719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913340" y="5706189"/>
            <a:ext cx="8803719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Looking Forward to Working Together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913340" y="5986343"/>
            <a:ext cx="8803719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13340" y="6386155"/>
            <a:ext cx="8803719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5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Pranav Kumar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913340" y="6626423"/>
            <a:ext cx="8803719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9990974701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13340" y="6866692"/>
            <a:ext cx="8803719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connect_pranav@outlook.com</a:t>
            </a:r>
            <a:endParaRPr lang="en-US" sz="15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8D2254-046E-B555-6CC2-9B628CFE586F}"/>
              </a:ext>
            </a:extLst>
          </p:cNvPr>
          <p:cNvSpPr/>
          <p:nvPr/>
        </p:nvSpPr>
        <p:spPr>
          <a:xfrm>
            <a:off x="12462933" y="7755467"/>
            <a:ext cx="2088445" cy="362903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455</Words>
  <Application>Microsoft Office PowerPoint</Application>
  <PresentationFormat>Custom</PresentationFormat>
  <Paragraphs>111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Open Sans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Pranav Kumar</cp:lastModifiedBy>
  <cp:revision>4</cp:revision>
  <dcterms:created xsi:type="dcterms:W3CDTF">2026-03-03T18:25:41Z</dcterms:created>
  <dcterms:modified xsi:type="dcterms:W3CDTF">2026-03-03T18:32:29Z</dcterms:modified>
</cp:coreProperties>
</file>